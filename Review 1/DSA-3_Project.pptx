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/>
          <a:lstStyle/>
          <a:p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Data Structures and Algorithms -3 (25CS2103E)</a:t>
            </a: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br>
              <a:rPr lang="en-US" sz="4000" b="1" dirty="0">
                <a:solidFill>
                  <a:srgbClr val="C00000"/>
                </a:solidFill>
                <a:latin typeface="+mn-lt"/>
              </a:rPr>
            </a:br>
            <a:r>
              <a:rPr lang="en-US" sz="4000" b="1" dirty="0">
                <a:solidFill>
                  <a:srgbClr val="C00000"/>
                </a:solidFill>
                <a:latin typeface="+mn-lt"/>
              </a:rPr>
              <a:t>  </a:t>
            </a:r>
            <a:r>
              <a:rPr lang="en-US" sz="4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Resume–Job Matching &amp; Talent Engine</a:t>
            </a:r>
            <a:br>
              <a:rPr lang="en-US" sz="40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b="1" dirty="0">
              <a:solidFill>
                <a:srgbClr val="C00000"/>
              </a:solidFill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0160" y="3513524"/>
            <a:ext cx="4551284" cy="1396014"/>
          </a:xfrm>
        </p:spPr>
        <p:txBody>
          <a:bodyPr/>
          <a:lstStyle/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M Vijaya Lakshmi     2520090201</a:t>
            </a:r>
            <a:b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</a:br>
            <a:r>
              <a:rPr lang="en-US" sz="1800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P Shashanth               2520090211</a:t>
            </a:r>
            <a:br>
              <a:rPr lang="en-US" sz="1800" kern="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</a:b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D Pawan Kumar        2520090102</a:t>
            </a:r>
          </a:p>
          <a:p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D1E515D-7516-A909-4BF1-4DE8C7E04823}"/>
              </a:ext>
            </a:extLst>
          </p:cNvPr>
          <p:cNvSpPr txBox="1"/>
          <p:nvPr/>
        </p:nvSpPr>
        <p:spPr>
          <a:xfrm>
            <a:off x="3385938" y="4788054"/>
            <a:ext cx="6096000" cy="374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algn="ctr">
              <a:lnSpc>
                <a:spcPct val="107000"/>
              </a:lnSpc>
              <a:spcAft>
                <a:spcPts val="800"/>
              </a:spcAft>
            </a:pPr>
            <a:r>
              <a:rPr lang="en-US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Under the Esteemed Guidance of</a:t>
            </a:r>
            <a:endParaRPr lang="en-IN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CDC3708-D9B7-924D-8C67-8E85B69C17B6}"/>
              </a:ext>
            </a:extLst>
          </p:cNvPr>
          <p:cNvSpPr txBox="1"/>
          <p:nvPr/>
        </p:nvSpPr>
        <p:spPr>
          <a:xfrm>
            <a:off x="4909938" y="5162131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Dr. Dyuti Banerjee </a:t>
            </a:r>
          </a:p>
          <a:p>
            <a:r>
              <a:rPr lang="en-IN" sz="24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Asst. Professor, AI &amp; 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36109" y="221673"/>
            <a:ext cx="4719782" cy="5172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Times New Roman"/>
              </a:rPr>
              <a:t>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3108960" cy="1371600"/>
          </a:xfrm>
          <a:prstGeom prst="rect">
            <a:avLst/>
          </a:prstGeom>
          <a:solidFill>
            <a:srgbClr val="FD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61872" y="1783080"/>
            <a:ext cx="46055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800" b="1" i="0">
                <a:solidFill>
                  <a:srgbClr val="3A2A28"/>
                </a:solidFill>
                <a:latin typeface="Times New Roman"/>
              </a:rPr>
              <a:t>Abstract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61872" y="2834640"/>
            <a:ext cx="46055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800" b="1" i="0">
                <a:solidFill>
                  <a:srgbClr val="3A2A28"/>
                </a:solidFill>
                <a:latin typeface="Times New Roman"/>
              </a:rPr>
              <a:t>Introduction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61872" y="3886200"/>
            <a:ext cx="46055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800" b="1" i="0">
                <a:solidFill>
                  <a:srgbClr val="3A2A28"/>
                </a:solidFill>
                <a:latin typeface="Times New Roman"/>
              </a:rPr>
              <a:t>Literature survey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937760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4937760"/>
            <a:ext cx="46055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800" b="1" i="0">
                <a:solidFill>
                  <a:srgbClr val="3A2A28"/>
                </a:solidFill>
                <a:latin typeface="Times New Roman"/>
              </a:rPr>
              <a:t>Problem Statement and Objectives</a:t>
            </a:r>
          </a:p>
        </p:txBody>
      </p:sp>
      <p:sp>
        <p:nvSpPr>
          <p:cNvPr id="12" name="Oval 11"/>
          <p:cNvSpPr/>
          <p:nvPr/>
        </p:nvSpPr>
        <p:spPr>
          <a:xfrm>
            <a:off x="6324600" y="1783080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37832" y="1783080"/>
            <a:ext cx="46055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800" b="1" i="0">
                <a:solidFill>
                  <a:srgbClr val="3A2A28"/>
                </a:solidFill>
                <a:latin typeface="Times New Roman"/>
              </a:rPr>
              <a:t>Hardware and Software requirements</a:t>
            </a:r>
          </a:p>
        </p:txBody>
      </p:sp>
      <p:sp>
        <p:nvSpPr>
          <p:cNvPr id="14" name="Oval 13"/>
          <p:cNvSpPr/>
          <p:nvPr/>
        </p:nvSpPr>
        <p:spPr>
          <a:xfrm>
            <a:off x="6324600" y="2834640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37832" y="2834640"/>
            <a:ext cx="46055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800" b="1" i="0">
                <a:solidFill>
                  <a:srgbClr val="3A2A28"/>
                </a:solidFill>
                <a:latin typeface="Times New Roman"/>
              </a:rPr>
              <a:t>Results &amp; Analysis</a:t>
            </a:r>
          </a:p>
        </p:txBody>
      </p:sp>
      <p:sp>
        <p:nvSpPr>
          <p:cNvPr id="16" name="Oval 15"/>
          <p:cNvSpPr/>
          <p:nvPr/>
        </p:nvSpPr>
        <p:spPr>
          <a:xfrm>
            <a:off x="6324600" y="3886200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7832" y="3886200"/>
            <a:ext cx="46055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800" b="1" i="0">
                <a:solidFill>
                  <a:srgbClr val="3A2A28"/>
                </a:solidFill>
                <a:latin typeface="Times New Roman"/>
              </a:rPr>
              <a:t>Conclusion</a:t>
            </a:r>
          </a:p>
        </p:txBody>
      </p:sp>
      <p:sp>
        <p:nvSpPr>
          <p:cNvPr id="18" name="Oval 17"/>
          <p:cNvSpPr/>
          <p:nvPr/>
        </p:nvSpPr>
        <p:spPr>
          <a:xfrm>
            <a:off x="6324600" y="4937760"/>
            <a:ext cx="502920" cy="50292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37832" y="4937760"/>
            <a:ext cx="460552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sz="1800" b="1" i="0">
                <a:solidFill>
                  <a:srgbClr val="3A2A28"/>
                </a:solidFill>
                <a:latin typeface="Times New Roman"/>
              </a:rPr>
              <a:t>Future Scope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36109" y="221673"/>
            <a:ext cx="4719782" cy="5172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Times New Roman"/>
              </a:rPr>
              <a:t>Abstract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3108960" cy="1508760"/>
          </a:xfrm>
          <a:prstGeom prst="rect">
            <a:avLst/>
          </a:prstGeom>
          <a:solidFill>
            <a:srgbClr val="FD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656832" cy="27193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 dirty="0">
                <a:solidFill>
                  <a:srgbClr val="403331"/>
                </a:solidFill>
                <a:latin typeface="Times New Roman"/>
              </a:rPr>
              <a:t>Modern hiring platforms struggle to match large résumé pools with job postings because of inconsistent skill vocabularies and manual screening.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 dirty="0">
                <a:solidFill>
                  <a:srgbClr val="403331"/>
                </a:solidFill>
                <a:latin typeface="Times New Roman"/>
              </a:rPr>
              <a:t>The proposed system indexes résumés and job postings and </a:t>
            </a:r>
            <a:r>
              <a:rPr sz="1400" b="0" i="0" dirty="0" err="1">
                <a:solidFill>
                  <a:srgbClr val="403331"/>
                </a:solidFill>
                <a:latin typeface="Times New Roman"/>
              </a:rPr>
              <a:t>normalises</a:t>
            </a:r>
            <a:r>
              <a:rPr sz="1400" b="0" i="0" dirty="0">
                <a:solidFill>
                  <a:srgbClr val="403331"/>
                </a:solidFill>
                <a:latin typeface="Times New Roman"/>
              </a:rPr>
              <a:t> free-text skills into a canonical taxonomy.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 dirty="0">
                <a:solidFill>
                  <a:srgbClr val="403331"/>
                </a:solidFill>
                <a:latin typeface="Times New Roman"/>
              </a:rPr>
              <a:t>Fuzzy and semantic matching are used to identify related skills.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 dirty="0">
                <a:solidFill>
                  <a:srgbClr val="403331"/>
                </a:solidFill>
                <a:latin typeface="Times New Roman"/>
              </a:rPr>
              <a:t>Candidate-to-job fit is calculated using skill overlap and embedding similarity.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 dirty="0">
                <a:solidFill>
                  <a:srgbClr val="403331"/>
                </a:solidFill>
                <a:latin typeface="Times New Roman"/>
              </a:rPr>
              <a:t>The Hungarian Algorithm finds the optimal one-to-one assignment of candidates to jobs.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 dirty="0">
                <a:solidFill>
                  <a:srgbClr val="403331"/>
                </a:solidFill>
                <a:latin typeface="Times New Roman"/>
              </a:rPr>
              <a:t>The Set Cover problem identifies the minimum subset of candidates required to cover a target team’s skills.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71232" y="1691640"/>
            <a:ext cx="4072128" cy="4480560"/>
          </a:xfrm>
          <a:prstGeom prst="roundRect">
            <a:avLst>
              <a:gd name="adj" fmla="val 8000"/>
            </a:avLst>
          </a:prstGeom>
          <a:solidFill>
            <a:srgbClr val="F4E1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99832" y="1965960"/>
            <a:ext cx="3614928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  <a:buNone/>
            </a:pPr>
            <a:r>
              <a:rPr sz="1500" b="1" i="0">
                <a:solidFill>
                  <a:srgbClr val="C00000"/>
                </a:solidFill>
                <a:latin typeface="Times New Roman"/>
              </a:rPr>
              <a:t>The Complete Pipeline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400" b="1" i="0">
                <a:solidFill>
                  <a:srgbClr val="3A2A28"/>
                </a:solidFill>
                <a:latin typeface="Times New Roman"/>
              </a:rPr>
              <a:t>Information retrieval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buNone/>
            </a:pPr>
            <a:r>
              <a:rPr sz="1150" b="0" i="0">
                <a:solidFill>
                  <a:srgbClr val="8A7472"/>
                </a:solidFill>
                <a:latin typeface="Times New Roman"/>
              </a:rPr>
              <a:t>Index and search résumés &amp; jobs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400" b="1" i="0">
                <a:solidFill>
                  <a:srgbClr val="3A2A28"/>
                </a:solidFill>
                <a:latin typeface="Times New Roman"/>
              </a:rPr>
              <a:t>Similarity scoring</a:t>
            </a:r>
          </a:p>
          <a:p>
            <a:pPr algn="l">
              <a:spcBef>
                <a:spcPts val="0"/>
              </a:spcBef>
              <a:spcAft>
                <a:spcPts val="1400"/>
              </a:spcAft>
              <a:buNone/>
            </a:pPr>
            <a:r>
              <a:rPr sz="1150" b="0" i="0">
                <a:solidFill>
                  <a:srgbClr val="8A7472"/>
                </a:solidFill>
                <a:latin typeface="Times New Roman"/>
              </a:rPr>
              <a:t>Skill overlap + embedding similarity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sz="1400" b="1" i="0">
                <a:solidFill>
                  <a:srgbClr val="3A2A28"/>
                </a:solidFill>
                <a:latin typeface="Times New Roman"/>
              </a:rPr>
              <a:t>Combinatorial optimisation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8A7472"/>
                </a:solidFill>
                <a:latin typeface="Times New Roman"/>
              </a:rPr>
              <a:t>Hungarian Algorithm + Set Cover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36109" y="221673"/>
            <a:ext cx="4719782" cy="5172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Times New Roman"/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3108960" cy="1508760"/>
          </a:xfrm>
          <a:prstGeom prst="rect">
            <a:avLst/>
          </a:prstGeom>
          <a:solidFill>
            <a:srgbClr val="FD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6213043" cy="23584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 dirty="0">
                <a:solidFill>
                  <a:srgbClr val="403331"/>
                </a:solidFill>
                <a:latin typeface="Times New Roman"/>
              </a:rPr>
              <a:t>Traditional recruitment depends heavily on manual résumé screening and keyword-based filtering.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 dirty="0">
                <a:solidFill>
                  <a:srgbClr val="403331"/>
                </a:solidFill>
                <a:latin typeface="Times New Roman"/>
              </a:rPr>
              <a:t>This process becomes difficult when the number of applicants and job postings increases.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 dirty="0">
                <a:solidFill>
                  <a:srgbClr val="403331"/>
                </a:solidFill>
                <a:latin typeface="Times New Roman"/>
              </a:rPr>
              <a:t>A major challenge is skill vocabulary mismatch.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 dirty="0">
                <a:solidFill>
                  <a:srgbClr val="403331"/>
                </a:solidFill>
                <a:latin typeface="Times New Roman"/>
              </a:rPr>
              <a:t>Traditional ATS systems commonly use keyword overlap or TF-IDF similarity.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dirty="0">
                <a:solidFill>
                  <a:srgbClr val="C00000"/>
                </a:solidFill>
                <a:latin typeface="Times New Roman"/>
              </a:rPr>
              <a:t>Our project integrates these capabilities into one end-to-end talent-matching pipeline.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27443" y="1691640"/>
            <a:ext cx="4515917" cy="1874519"/>
          </a:xfrm>
          <a:prstGeom prst="roundRect">
            <a:avLst>
              <a:gd name="adj" fmla="val 9000"/>
            </a:avLst>
          </a:prstGeom>
          <a:solidFill>
            <a:srgbClr val="F4E1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56043" y="1874520"/>
            <a:ext cx="4058717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 i="0">
                <a:solidFill>
                  <a:srgbClr val="C00000"/>
                </a:solidFill>
                <a:latin typeface="Times New Roman"/>
              </a:rPr>
              <a:t>Example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 i="0">
                <a:solidFill>
                  <a:srgbClr val="3A2A28"/>
                </a:solidFill>
                <a:latin typeface="Times New Roman"/>
              </a:rPr>
              <a:t>ReactJS, React.js, and front-end framework experience may describe similar skills.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27443" y="3840480"/>
            <a:ext cx="451591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300" b="1" i="0">
                <a:solidFill>
                  <a:srgbClr val="3A2A28"/>
                </a:solidFill>
                <a:latin typeface="Times New Roman"/>
              </a:rPr>
              <a:t>Keyword overlap / TF-IDF does not:</a:t>
            </a:r>
          </a:p>
        </p:txBody>
      </p:sp>
      <p:sp>
        <p:nvSpPr>
          <p:cNvPr id="8" name="Oval 7"/>
          <p:cNvSpPr/>
          <p:nvPr/>
        </p:nvSpPr>
        <p:spPr>
          <a:xfrm>
            <a:off x="7127443" y="4297680"/>
            <a:ext cx="274320" cy="274320"/>
          </a:xfrm>
          <a:prstGeom prst="ellipse">
            <a:avLst/>
          </a:prstGeom>
          <a:solidFill>
            <a:srgbClr val="3A2A28"/>
          </a:solidFill>
          <a:ln>
            <a:noFill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11491" y="4270248"/>
            <a:ext cx="413186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03331"/>
                </a:solidFill>
                <a:latin typeface="Times New Roman"/>
              </a:rPr>
              <a:t>Canonicalise different skill names</a:t>
            </a:r>
          </a:p>
        </p:txBody>
      </p:sp>
      <p:sp>
        <p:nvSpPr>
          <p:cNvPr id="10" name="Oval 9"/>
          <p:cNvSpPr/>
          <p:nvPr/>
        </p:nvSpPr>
        <p:spPr>
          <a:xfrm>
            <a:off x="7127443" y="4956048"/>
            <a:ext cx="274320" cy="274320"/>
          </a:xfrm>
          <a:prstGeom prst="ellipse">
            <a:avLst/>
          </a:prstGeom>
          <a:solidFill>
            <a:srgbClr val="3A2A28"/>
          </a:solidFill>
          <a:ln>
            <a:noFill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11491" y="4928616"/>
            <a:ext cx="413186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03331"/>
                </a:solidFill>
                <a:latin typeface="Times New Roman"/>
              </a:rPr>
              <a:t>Globally optimise candidate-to-role assignment</a:t>
            </a:r>
          </a:p>
        </p:txBody>
      </p:sp>
      <p:sp>
        <p:nvSpPr>
          <p:cNvPr id="12" name="Oval 11"/>
          <p:cNvSpPr/>
          <p:nvPr/>
        </p:nvSpPr>
        <p:spPr>
          <a:xfrm>
            <a:off x="7127443" y="5614416"/>
            <a:ext cx="274320" cy="274320"/>
          </a:xfrm>
          <a:prstGeom prst="ellipse">
            <a:avLst/>
          </a:prstGeom>
          <a:solidFill>
            <a:srgbClr val="3A2A28"/>
          </a:solidFill>
          <a:ln>
            <a:noFill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imes New Roman"/>
              </a:rP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1491" y="5586984"/>
            <a:ext cx="413186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>
                <a:solidFill>
                  <a:srgbClr val="403331"/>
                </a:solidFill>
                <a:latin typeface="Times New Roman"/>
              </a:rPr>
              <a:t>Find the smallest team covering all required skills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36109" y="221673"/>
            <a:ext cx="4719782" cy="5172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Times New Roman"/>
              </a:rPr>
              <a:t>Literature Survey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3108960" cy="1508760"/>
          </a:xfrm>
          <a:prstGeom prst="rect">
            <a:avLst/>
          </a:prstGeom>
          <a:solidFill>
            <a:srgbClr val="FD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C00000"/>
                </a:solidFill>
                <a:latin typeface="Times New Roman"/>
              </a:rPr>
              <a:t>EXISTING APPROACHES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2103120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084832"/>
            <a:ext cx="105918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350" b="1" i="0">
                <a:solidFill>
                  <a:srgbClr val="3A2A28"/>
                </a:solidFill>
                <a:latin typeface="Times New Roman"/>
              </a:rPr>
              <a:t>Keyword-Based Matching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8A7472"/>
                </a:solidFill>
                <a:latin typeface="Times New Roman"/>
              </a:rPr>
              <a:t>Matches résumé and job-description keywords. Simple but affected by vocabulary differences.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06624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688336"/>
            <a:ext cx="105918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350" b="1" i="0">
                <a:solidFill>
                  <a:srgbClr val="3A2A28"/>
                </a:solidFill>
                <a:latin typeface="Times New Roman"/>
              </a:rPr>
              <a:t>TF-IDF / Cosine Similarity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8A7472"/>
                </a:solidFill>
                <a:latin typeface="Times New Roman"/>
              </a:rPr>
              <a:t>Measures similarity between résumé and job-description text. Useful for text matching but may miss semantic relationships.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310128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291840"/>
            <a:ext cx="105918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350" b="1" i="0">
                <a:solidFill>
                  <a:srgbClr val="3A2A28"/>
                </a:solidFill>
                <a:latin typeface="Times New Roman"/>
              </a:rPr>
              <a:t>Learning-to-Rank Models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8A7472"/>
                </a:solidFill>
                <a:latin typeface="Times New Roman"/>
              </a:rPr>
              <a:t>Used for improving candidate ranking. Require suitable training data and ranking strategies.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913632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3895344"/>
            <a:ext cx="105918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350" b="1" i="0">
                <a:solidFill>
                  <a:srgbClr val="3A2A28"/>
                </a:solidFill>
                <a:latin typeface="Times New Roman"/>
              </a:rPr>
              <a:t>Assignment Problem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8A7472"/>
                </a:solidFill>
                <a:latin typeface="Times New Roman"/>
              </a:rPr>
              <a:t>Used in combinatorial optimisation to assign candidates to roles globally.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517136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498848"/>
            <a:ext cx="10591800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  <a:buNone/>
            </a:pPr>
            <a:r>
              <a:rPr sz="1350" b="1" i="0">
                <a:solidFill>
                  <a:srgbClr val="3A2A28"/>
                </a:solidFill>
                <a:latin typeface="Times New Roman"/>
              </a:rPr>
              <a:t>Set Cover Problem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8A7472"/>
                </a:solidFill>
                <a:latin typeface="Times New Roman"/>
              </a:rPr>
              <a:t>Used to select a minimum collection of candidates whose combined skills cover required skills.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230368"/>
            <a:ext cx="11094720" cy="960120"/>
          </a:xfrm>
          <a:prstGeom prst="roundRect">
            <a:avLst>
              <a:gd name="adj" fmla="val 12000"/>
            </a:avLst>
          </a:prstGeom>
          <a:solidFill>
            <a:srgbClr val="F4E1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5340096"/>
            <a:ext cx="10546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  <a:buNone/>
            </a:pPr>
            <a:r>
              <a:rPr sz="1300" b="1" i="0">
                <a:solidFill>
                  <a:srgbClr val="C00000"/>
                </a:solidFill>
                <a:latin typeface="Times New Roman"/>
              </a:rPr>
              <a:t>Research Gap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50" b="0" i="0">
                <a:solidFill>
                  <a:srgbClr val="3A2A28"/>
                </a:solidFill>
                <a:latin typeface="Times New Roman"/>
              </a:rPr>
              <a:t>Existing approaches generally treat these techniques separately. This project combines semantic matching + assignment optimisation + Set Cover into one recruitment pipeline.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529840" y="221673"/>
            <a:ext cx="7132320" cy="5172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Times New Roman"/>
              </a:rPr>
              <a:t>Problem Statement and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3108960" cy="1508760"/>
          </a:xfrm>
          <a:prstGeom prst="rect">
            <a:avLst/>
          </a:prstGeom>
          <a:solidFill>
            <a:srgbClr val="FD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26720" y="1889991"/>
            <a:ext cx="5364480" cy="4343400"/>
          </a:xfrm>
          <a:prstGeom prst="roundRect">
            <a:avLst>
              <a:gd name="adj" fmla="val 5000"/>
            </a:avLst>
          </a:prstGeom>
          <a:solidFill>
            <a:srgbClr val="FFFCFB"/>
          </a:solidFill>
          <a:ln w="12700">
            <a:solidFill>
              <a:srgbClr val="E8D8D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364480" cy="502920"/>
          </a:xfrm>
          <a:prstGeom prst="roundRect">
            <a:avLst>
              <a:gd name="adj" fmla="val 16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364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2051" y="2423160"/>
            <a:ext cx="4373818" cy="1959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 i="0" dirty="0">
                <a:solidFill>
                  <a:srgbClr val="403331"/>
                </a:solidFill>
                <a:latin typeface="Times New Roman"/>
              </a:rPr>
              <a:t>Manual résumé screening is slow and difficult to scale.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 i="0" dirty="0">
                <a:solidFill>
                  <a:srgbClr val="403331"/>
                </a:solidFill>
                <a:latin typeface="Times New Roman"/>
              </a:rPr>
              <a:t>Different skill descriptions can cause qualified candidates to be missed.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 i="0" dirty="0">
                <a:solidFill>
                  <a:srgbClr val="403331"/>
                </a:solidFill>
                <a:latin typeface="Times New Roman"/>
              </a:rPr>
              <a:t>Independent candidate ranking does not guarantee the best overall allocation of candidates to multiple roles.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300" b="0" i="0" dirty="0">
                <a:solidFill>
                  <a:srgbClr val="403331"/>
                </a:solidFill>
                <a:latin typeface="Times New Roman"/>
              </a:rPr>
              <a:t>Recruiters also need to identify the smallest team that collectively covers all required skills.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880" y="1691640"/>
            <a:ext cx="5364480" cy="4343400"/>
          </a:xfrm>
          <a:prstGeom prst="roundRect">
            <a:avLst>
              <a:gd name="adj" fmla="val 5000"/>
            </a:avLst>
          </a:prstGeom>
          <a:solidFill>
            <a:srgbClr val="FFFCFB"/>
          </a:solidFill>
          <a:ln w="12700">
            <a:solidFill>
              <a:srgbClr val="E8D8D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78880" y="1691640"/>
            <a:ext cx="5364480" cy="502920"/>
          </a:xfrm>
          <a:prstGeom prst="roundRect">
            <a:avLst>
              <a:gd name="adj" fmla="val 16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78880" y="1691640"/>
            <a:ext cx="53644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>
                <a:solidFill>
                  <a:srgbClr val="FFFFFF"/>
                </a:solidFill>
                <a:latin typeface="Times New Roman"/>
              </a:rP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36128" y="2423160"/>
            <a:ext cx="4213953" cy="2266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 dirty="0" err="1">
                <a:solidFill>
                  <a:srgbClr val="403331"/>
                </a:solidFill>
                <a:latin typeface="Times New Roman"/>
              </a:rPr>
              <a:t>Normalise</a:t>
            </a:r>
            <a:r>
              <a:rPr sz="1250" b="0" i="0" dirty="0">
                <a:solidFill>
                  <a:srgbClr val="403331"/>
                </a:solidFill>
                <a:latin typeface="Times New Roman"/>
              </a:rPr>
              <a:t> résumé and job skills into a canonical skill taxonomy.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 dirty="0">
                <a:solidFill>
                  <a:srgbClr val="403331"/>
                </a:solidFill>
                <a:latin typeface="Times New Roman"/>
              </a:rPr>
              <a:t>Compute candidate-job fit scores using skill overlap and semantic similarity.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 dirty="0" err="1">
                <a:solidFill>
                  <a:srgbClr val="403331"/>
                </a:solidFill>
                <a:latin typeface="Times New Roman"/>
              </a:rPr>
              <a:t>Optimise</a:t>
            </a:r>
            <a:r>
              <a:rPr sz="1250" b="0" i="0" dirty="0">
                <a:solidFill>
                  <a:srgbClr val="403331"/>
                </a:solidFill>
                <a:latin typeface="Times New Roman"/>
              </a:rPr>
              <a:t> candidate-to-role allocation using the Hungarian Algorithm.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 dirty="0">
                <a:solidFill>
                  <a:srgbClr val="403331"/>
                </a:solidFill>
                <a:latin typeface="Times New Roman"/>
              </a:rPr>
              <a:t>Identify minimum skill-covering candidate groups using the Set Cover problem.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 dirty="0">
                <a:solidFill>
                  <a:srgbClr val="403331"/>
                </a:solidFill>
                <a:latin typeface="Times New Roman"/>
              </a:rPr>
              <a:t>Build an integrated and scalable talent-marketplace matching pipeline.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904" y="192024"/>
            <a:ext cx="6876288" cy="58521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500" b="1">
                <a:solidFill>
                  <a:srgbClr val="FFFFFF"/>
                </a:solidFill>
                <a:latin typeface="Aptos"/>
              </a:rPr>
              <a:t>Flow Chart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703320" y="1078992"/>
            <a:ext cx="4709160" cy="521207"/>
          </a:xfrm>
          <a:prstGeom prst="roundRect">
            <a:avLst/>
          </a:prstGeom>
          <a:solidFill>
            <a:srgbClr val="C40000"/>
          </a:solidFill>
          <a:ln w="15240">
            <a:solidFill>
              <a:srgbClr val="C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Résumé + Job Posting Input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57900" y="1600200"/>
            <a:ext cx="0" cy="228600"/>
          </a:xfrm>
          <a:prstGeom prst="line">
            <a:avLst/>
          </a:prstGeom>
          <a:ln w="25400">
            <a:solidFill>
              <a:srgbClr val="4B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703320" y="1837943"/>
            <a:ext cx="4709160" cy="521207"/>
          </a:xfrm>
          <a:prstGeom prst="roundRect">
            <a:avLst/>
          </a:prstGeom>
          <a:solidFill>
            <a:srgbClr val="1F3E62"/>
          </a:solidFill>
          <a:ln w="15240">
            <a:solidFill>
              <a:srgbClr val="1F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20" b="1">
                <a:solidFill>
                  <a:srgbClr val="FFFFFF"/>
                </a:solidFill>
                <a:latin typeface="Aptos"/>
              </a:rPr>
              <a:t>Text Parsing &amp; Skill Extraction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57900" y="2359152"/>
            <a:ext cx="0" cy="228600"/>
          </a:xfrm>
          <a:prstGeom prst="line">
            <a:avLst/>
          </a:prstGeom>
          <a:ln w="25400">
            <a:solidFill>
              <a:srgbClr val="4B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703320" y="2596896"/>
            <a:ext cx="4709160" cy="521207"/>
          </a:xfrm>
          <a:prstGeom prst="roundRect">
            <a:avLst/>
          </a:prstGeom>
          <a:solidFill>
            <a:srgbClr val="356799"/>
          </a:solidFill>
          <a:ln w="15240">
            <a:solidFill>
              <a:srgbClr val="3567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Skill Normalisation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57900" y="3118104"/>
            <a:ext cx="0" cy="228600"/>
          </a:xfrm>
          <a:prstGeom prst="line">
            <a:avLst/>
          </a:prstGeom>
          <a:ln w="25400">
            <a:solidFill>
              <a:srgbClr val="4B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703320" y="3355848"/>
            <a:ext cx="4709160" cy="521207"/>
          </a:xfrm>
          <a:prstGeom prst="roundRect">
            <a:avLst/>
          </a:prstGeom>
          <a:solidFill>
            <a:srgbClr val="4A7DB2"/>
          </a:solidFill>
          <a:ln w="15240">
            <a:solidFill>
              <a:srgbClr val="4A7D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80" b="1">
                <a:solidFill>
                  <a:srgbClr val="FFFFFF"/>
                </a:solidFill>
                <a:latin typeface="Aptos"/>
              </a:rPr>
              <a:t>Fuzzy + Semantic Matching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57900" y="3877056"/>
            <a:ext cx="0" cy="210312"/>
          </a:xfrm>
          <a:prstGeom prst="line">
            <a:avLst/>
          </a:prstGeom>
          <a:ln w="25400">
            <a:solidFill>
              <a:srgbClr val="4B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703320" y="4096512"/>
            <a:ext cx="4709160" cy="557784"/>
          </a:xfrm>
          <a:prstGeom prst="roundRect">
            <a:avLst/>
          </a:prstGeom>
          <a:solidFill>
            <a:srgbClr val="C40000"/>
          </a:solidFill>
          <a:ln w="15240">
            <a:solidFill>
              <a:srgbClr val="C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Candidate–Job Fit Score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2542032" y="4370832"/>
            <a:ext cx="1225296" cy="365760"/>
          </a:xfrm>
          <a:prstGeom prst="line">
            <a:avLst/>
          </a:prstGeom>
          <a:ln w="22860">
            <a:solidFill>
              <a:srgbClr val="4B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348472" y="4370832"/>
            <a:ext cx="1225296" cy="365760"/>
          </a:xfrm>
          <a:prstGeom prst="line">
            <a:avLst/>
          </a:prstGeom>
          <a:ln w="22860">
            <a:solidFill>
              <a:srgbClr val="4B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325880" y="4471416"/>
            <a:ext cx="1645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6E4646"/>
                </a:solidFill>
                <a:latin typeface="Aptos"/>
              </a:rPr>
              <a:t>Assignment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4471416"/>
            <a:ext cx="1645920" cy="25603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150" b="1">
                <a:solidFill>
                  <a:srgbClr val="6E4646"/>
                </a:solidFill>
                <a:latin typeface="Aptos"/>
              </a:rPr>
              <a:t>Team Coverage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745736"/>
            <a:ext cx="4069080" cy="603504"/>
          </a:xfrm>
          <a:prstGeom prst="roundRect">
            <a:avLst/>
          </a:prstGeom>
          <a:solidFill>
            <a:srgbClr val="1F3E62"/>
          </a:solidFill>
          <a:ln w="15240">
            <a:solidFill>
              <a:srgbClr val="1F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Hungarian Algorithm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4745736"/>
            <a:ext cx="4069080" cy="603504"/>
          </a:xfrm>
          <a:prstGeom prst="roundRect">
            <a:avLst/>
          </a:prstGeom>
          <a:solidFill>
            <a:srgbClr val="43764A"/>
          </a:solidFill>
          <a:ln w="15240">
            <a:solidFill>
              <a:srgbClr val="437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Set Cover Optimisation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542032" y="5349240"/>
            <a:ext cx="0" cy="265176"/>
          </a:xfrm>
          <a:prstGeom prst="line">
            <a:avLst/>
          </a:prstGeom>
          <a:ln w="22860">
            <a:solidFill>
              <a:srgbClr val="4B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537192" y="5349240"/>
            <a:ext cx="0" cy="265176"/>
          </a:xfrm>
          <a:prstGeom prst="line">
            <a:avLst/>
          </a:prstGeom>
          <a:ln w="22860">
            <a:solidFill>
              <a:srgbClr val="4B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920" y="5623560"/>
            <a:ext cx="4069080" cy="566928"/>
          </a:xfrm>
          <a:prstGeom prst="roundRect">
            <a:avLst/>
          </a:prstGeom>
          <a:solidFill>
            <a:srgbClr val="1F3E62"/>
          </a:solidFill>
          <a:ln w="15240">
            <a:solidFill>
              <a:srgbClr val="1F3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30" b="1" dirty="0">
                <a:solidFill>
                  <a:srgbClr val="FFFFFF"/>
                </a:solidFill>
                <a:latin typeface="Aptos"/>
              </a:rPr>
              <a:t>Optimal One-to-One Role Assignment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79" y="5623560"/>
            <a:ext cx="4069080" cy="566928"/>
          </a:xfrm>
          <a:prstGeom prst="roundRect">
            <a:avLst/>
          </a:prstGeom>
          <a:solidFill>
            <a:srgbClr val="43764A"/>
          </a:solidFill>
          <a:ln w="15240">
            <a:solidFill>
              <a:srgbClr val="437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Minimum Skill-Covering Candidate Set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72000" y="5907024"/>
            <a:ext cx="685800" cy="246888"/>
          </a:xfrm>
          <a:prstGeom prst="line">
            <a:avLst/>
          </a:prstGeom>
          <a:ln w="20320">
            <a:solidFill>
              <a:srgbClr val="4B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6858000" y="5907024"/>
            <a:ext cx="640079" cy="246888"/>
          </a:xfrm>
          <a:prstGeom prst="line">
            <a:avLst/>
          </a:prstGeom>
          <a:ln w="20320">
            <a:solidFill>
              <a:srgbClr val="4B4B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822191" y="6172200"/>
            <a:ext cx="4480560" cy="493776"/>
          </a:xfrm>
          <a:prstGeom prst="roundRect">
            <a:avLst/>
          </a:prstGeom>
          <a:solidFill>
            <a:srgbClr val="C40000"/>
          </a:solidFill>
          <a:ln w="15240">
            <a:solidFill>
              <a:srgbClr val="C4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20" b="1" dirty="0">
                <a:solidFill>
                  <a:srgbClr val="FFFFFF"/>
                </a:solidFill>
                <a:latin typeface="Aptos"/>
              </a:rPr>
              <a:t>Final Recruitment Recommendation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169920" y="221673"/>
            <a:ext cx="5852160" cy="5172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Times New Roman"/>
              </a:rPr>
              <a:t>Results &amp;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412748"/>
            <a:ext cx="3108960" cy="1508760"/>
          </a:xfrm>
          <a:prstGeom prst="rect">
            <a:avLst/>
          </a:prstGeom>
          <a:solidFill>
            <a:srgbClr val="FD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51790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dirty="0">
                <a:solidFill>
                  <a:srgbClr val="C00000"/>
                </a:solidFill>
                <a:latin typeface="Times New Roman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8942" y="1897380"/>
            <a:ext cx="5318760" cy="12782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 i="0" dirty="0">
                <a:solidFill>
                  <a:srgbClr val="403331"/>
                </a:solidFill>
                <a:latin typeface="Times New Roman"/>
              </a:rPr>
              <a:t>Résumés and job postings are processed through a structured end-to-end pipeline.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 i="0" dirty="0">
                <a:solidFill>
                  <a:srgbClr val="403331"/>
                </a:solidFill>
                <a:latin typeface="Times New Roman"/>
              </a:rPr>
              <a:t>Skill </a:t>
            </a:r>
            <a:r>
              <a:rPr sz="1250" b="0" i="0" dirty="0" err="1">
                <a:solidFill>
                  <a:srgbClr val="403331"/>
                </a:solidFill>
                <a:latin typeface="Times New Roman"/>
              </a:rPr>
              <a:t>normali</a:t>
            </a:r>
            <a:r>
              <a:rPr lang="en-IN" sz="1250" b="0" i="0" dirty="0">
                <a:solidFill>
                  <a:srgbClr val="403331"/>
                </a:solidFill>
                <a:latin typeface="Times New Roman"/>
              </a:rPr>
              <a:t>s</a:t>
            </a:r>
            <a:r>
              <a:rPr sz="1250" b="0" i="0" dirty="0" err="1">
                <a:solidFill>
                  <a:srgbClr val="403331"/>
                </a:solidFill>
                <a:latin typeface="Times New Roman"/>
              </a:rPr>
              <a:t>ation</a:t>
            </a:r>
            <a:r>
              <a:rPr sz="1250" b="0" i="0" dirty="0">
                <a:solidFill>
                  <a:srgbClr val="403331"/>
                </a:solidFill>
                <a:latin typeface="Times New Roman"/>
              </a:rPr>
              <a:t> reduces problems caused by inconsistent skill names.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 i="0" dirty="0">
                <a:solidFill>
                  <a:srgbClr val="403331"/>
                </a:solidFill>
                <a:latin typeface="Times New Roman"/>
              </a:rPr>
              <a:t>Semantic similarity helps identify related skills beyond exact keyword matches.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 i="0" dirty="0">
                <a:solidFill>
                  <a:srgbClr val="403331"/>
                </a:solidFill>
                <a:latin typeface="Times New Roman"/>
              </a:rPr>
              <a:t>Candidate-job fit scores provide a basis for matching candidates with suitable roles.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8942" y="3302845"/>
            <a:ext cx="5318760" cy="12782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 i="0" dirty="0">
                <a:solidFill>
                  <a:srgbClr val="403331"/>
                </a:solidFill>
                <a:latin typeface="Times New Roman"/>
              </a:rPr>
              <a:t>The Hungarian Algorithm produces a globally </a:t>
            </a:r>
            <a:r>
              <a:rPr sz="1250" b="0" i="0" dirty="0" err="1">
                <a:solidFill>
                  <a:srgbClr val="403331"/>
                </a:solidFill>
                <a:latin typeface="Times New Roman"/>
              </a:rPr>
              <a:t>optimised</a:t>
            </a:r>
            <a:r>
              <a:rPr sz="1250" b="0" i="0" dirty="0">
                <a:solidFill>
                  <a:srgbClr val="403331"/>
                </a:solidFill>
                <a:latin typeface="Times New Roman"/>
              </a:rPr>
              <a:t> one-to-one assignment.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 i="0" dirty="0">
                <a:solidFill>
                  <a:srgbClr val="403331"/>
                </a:solidFill>
                <a:latin typeface="Times New Roman"/>
              </a:rPr>
              <a:t>Set Cover identifies a compact candidate team covering the required skills.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 i="0" dirty="0">
                <a:solidFill>
                  <a:srgbClr val="403331"/>
                </a:solidFill>
                <a:latin typeface="Times New Roman"/>
              </a:rPr>
              <a:t>Greedy approximation can handle larger Set Cover instances.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200"/>
              </a:spcAft>
            </a:pPr>
            <a:r>
              <a:rPr sz="1250" b="0" i="0" dirty="0">
                <a:solidFill>
                  <a:srgbClr val="403331"/>
                </a:solidFill>
                <a:latin typeface="Times New Roman"/>
              </a:rPr>
              <a:t>Exact ILP can be applied to smaller instances for optimal solutions.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908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>
                <a:solidFill>
                  <a:srgbClr val="C00000"/>
                </a:solidFill>
                <a:latin typeface="Times New Roman"/>
              </a:rPr>
              <a:t>ANALYSIS</a:t>
            </a:r>
          </a:p>
        </p:txBody>
      </p:sp>
      <p:sp>
        <p:nvSpPr>
          <p:cNvPr id="8" name="Chevron 7"/>
          <p:cNvSpPr/>
          <p:nvPr/>
        </p:nvSpPr>
        <p:spPr>
          <a:xfrm>
            <a:off x="548640" y="5074920"/>
            <a:ext cx="2295753" cy="566928"/>
          </a:xfrm>
          <a:prstGeom prst="chevron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Input</a:t>
            </a:r>
          </a:p>
        </p:txBody>
      </p:sp>
      <p:sp>
        <p:nvSpPr>
          <p:cNvPr id="9" name="Chevron 8"/>
          <p:cNvSpPr/>
          <p:nvPr/>
        </p:nvSpPr>
        <p:spPr>
          <a:xfrm>
            <a:off x="2789529" y="5074920"/>
            <a:ext cx="2295753" cy="566928"/>
          </a:xfrm>
          <a:prstGeom prst="chevron">
            <a:avLst/>
          </a:prstGeom>
          <a:solidFill>
            <a:srgbClr val="3A2A2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Processing</a:t>
            </a:r>
          </a:p>
        </p:txBody>
      </p:sp>
      <p:sp>
        <p:nvSpPr>
          <p:cNvPr id="10" name="Chevron 9"/>
          <p:cNvSpPr/>
          <p:nvPr/>
        </p:nvSpPr>
        <p:spPr>
          <a:xfrm>
            <a:off x="5030418" y="5074920"/>
            <a:ext cx="2295753" cy="566928"/>
          </a:xfrm>
          <a:prstGeom prst="chevron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Matching</a:t>
            </a:r>
          </a:p>
        </p:txBody>
      </p:sp>
      <p:sp>
        <p:nvSpPr>
          <p:cNvPr id="11" name="Chevron 10"/>
          <p:cNvSpPr/>
          <p:nvPr/>
        </p:nvSpPr>
        <p:spPr>
          <a:xfrm>
            <a:off x="7271307" y="5074920"/>
            <a:ext cx="2295753" cy="566928"/>
          </a:xfrm>
          <a:prstGeom prst="chevron">
            <a:avLst/>
          </a:prstGeom>
          <a:solidFill>
            <a:srgbClr val="3A2A28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Optimisation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9512196" y="5074920"/>
            <a:ext cx="2131161" cy="566928"/>
          </a:xfrm>
          <a:prstGeom prst="chevron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Times New Roman"/>
              </a:rPr>
              <a:t>Recommendation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164080" y="221673"/>
            <a:ext cx="7863840" cy="5172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Times New Roman"/>
              </a:rPr>
              <a:t>Hardware and Software Requirements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3108960" cy="1508760"/>
          </a:xfrm>
          <a:prstGeom prst="rect">
            <a:avLst/>
          </a:prstGeom>
          <a:solidFill>
            <a:srgbClr val="FD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691640"/>
            <a:ext cx="5364480" cy="4434840"/>
          </a:xfrm>
          <a:prstGeom prst="roundRect">
            <a:avLst>
              <a:gd name="adj" fmla="val 5000"/>
            </a:avLst>
          </a:prstGeom>
          <a:solidFill>
            <a:srgbClr val="FFFCFB"/>
          </a:solidFill>
          <a:ln w="12700">
            <a:solidFill>
              <a:srgbClr val="E8D8D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5364480" cy="457200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5364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Software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50008"/>
            <a:ext cx="4852416" cy="3000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 dirty="0">
                <a:solidFill>
                  <a:srgbClr val="403331"/>
                </a:solidFill>
                <a:latin typeface="Times New Roman"/>
              </a:rPr>
              <a:t>Python 3.10+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 dirty="0" err="1">
                <a:solidFill>
                  <a:srgbClr val="403331"/>
                </a:solidFill>
                <a:latin typeface="Times New Roman"/>
              </a:rPr>
              <a:t>spaCy</a:t>
            </a:r>
            <a:r>
              <a:rPr sz="1200" b="0" i="0" dirty="0">
                <a:solidFill>
                  <a:srgbClr val="403331"/>
                </a:solidFill>
                <a:latin typeface="Times New Roman"/>
              </a:rPr>
              <a:t> – NLP &amp; résumé processing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 dirty="0">
                <a:solidFill>
                  <a:srgbClr val="403331"/>
                </a:solidFill>
                <a:latin typeface="Times New Roman"/>
              </a:rPr>
              <a:t>Sentence Transformers – Semantic similarity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 dirty="0">
                <a:solidFill>
                  <a:srgbClr val="403331"/>
                </a:solidFill>
                <a:latin typeface="Times New Roman"/>
              </a:rPr>
              <a:t>FAISS / Vector Database – Fast similarity search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 dirty="0">
                <a:solidFill>
                  <a:srgbClr val="403331"/>
                </a:solidFill>
                <a:latin typeface="Times New Roman"/>
              </a:rPr>
              <a:t>SciPy – Hungarian Algorithm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 dirty="0">
                <a:solidFill>
                  <a:srgbClr val="403331"/>
                </a:solidFill>
                <a:latin typeface="Times New Roman"/>
              </a:rPr>
              <a:t>Google OR-Tools (CP-SAT) – Set Cover optimization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 dirty="0">
                <a:solidFill>
                  <a:srgbClr val="403331"/>
                </a:solidFill>
                <a:latin typeface="Times New Roman"/>
              </a:rPr>
              <a:t>PostgreSQL – Persistent storage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 dirty="0" err="1">
                <a:solidFill>
                  <a:srgbClr val="403331"/>
                </a:solidFill>
                <a:latin typeface="Times New Roman"/>
              </a:rPr>
              <a:t>pgvector</a:t>
            </a:r>
            <a:r>
              <a:rPr sz="1200" b="0" i="0" dirty="0">
                <a:solidFill>
                  <a:srgbClr val="403331"/>
                </a:solidFill>
                <a:latin typeface="Times New Roman"/>
              </a:rPr>
              <a:t> – Optional vector storage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 dirty="0" err="1">
                <a:solidFill>
                  <a:srgbClr val="403331"/>
                </a:solidFill>
                <a:latin typeface="Times New Roman"/>
              </a:rPr>
              <a:t>FastAPI</a:t>
            </a:r>
            <a:r>
              <a:rPr sz="1200" b="0" i="0" dirty="0">
                <a:solidFill>
                  <a:srgbClr val="403331"/>
                </a:solidFill>
                <a:latin typeface="Times New Roman"/>
              </a:rPr>
              <a:t> / Flask – Backend API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200" b="0" i="0" dirty="0">
                <a:solidFill>
                  <a:srgbClr val="403331"/>
                </a:solidFill>
                <a:latin typeface="Times New Roman"/>
              </a:rPr>
              <a:t>Jupyter / Code Editor – Development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880" y="1691640"/>
            <a:ext cx="5364480" cy="4434840"/>
          </a:xfrm>
          <a:prstGeom prst="roundRect">
            <a:avLst>
              <a:gd name="adj" fmla="val 5000"/>
            </a:avLst>
          </a:prstGeom>
          <a:solidFill>
            <a:srgbClr val="FFFCFB"/>
          </a:solidFill>
          <a:ln w="12700">
            <a:solidFill>
              <a:srgbClr val="E8D8D5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278880" y="1691640"/>
            <a:ext cx="5364480" cy="457200"/>
          </a:xfrm>
          <a:prstGeom prst="roundRect">
            <a:avLst>
              <a:gd name="adj" fmla="val 18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78880" y="1691640"/>
            <a:ext cx="53644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Hardware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4912" y="2350008"/>
            <a:ext cx="4852416" cy="22728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300" b="0" i="0" dirty="0">
                <a:solidFill>
                  <a:srgbClr val="403331"/>
                </a:solidFill>
                <a:latin typeface="Times New Roman"/>
              </a:rPr>
              <a:t>RAM: Minimum 8 GB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300" b="0" i="0" dirty="0">
                <a:solidFill>
                  <a:srgbClr val="403331"/>
                </a:solidFill>
                <a:latin typeface="Times New Roman"/>
              </a:rPr>
              <a:t>RAM: 16 GB recommended for larger datasets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300" b="0" i="0" dirty="0">
                <a:solidFill>
                  <a:srgbClr val="403331"/>
                </a:solidFill>
                <a:latin typeface="Times New Roman"/>
              </a:rPr>
              <a:t>CPU: Multi-core processor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300" b="0" i="0" dirty="0">
                <a:solidFill>
                  <a:srgbClr val="403331"/>
                </a:solidFill>
                <a:latin typeface="Times New Roman"/>
              </a:rPr>
              <a:t>Storage: At least 10 GB free space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300" b="0" i="0" dirty="0">
                <a:solidFill>
                  <a:srgbClr val="403331"/>
                </a:solidFill>
                <a:latin typeface="Times New Roman"/>
              </a:rPr>
              <a:t>Internet: Required for pretrained models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1300" b="0" i="0" dirty="0">
                <a:solidFill>
                  <a:srgbClr val="403331"/>
                </a:solidFill>
                <a:latin typeface="Times New Roman"/>
              </a:rPr>
              <a:t>GPU: Optional; useful for large datasets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36109" y="221673"/>
            <a:ext cx="4719782" cy="5172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Times New Roman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3108960" cy="1508760"/>
          </a:xfrm>
          <a:prstGeom prst="rect">
            <a:avLst/>
          </a:prstGeom>
          <a:solidFill>
            <a:srgbClr val="FD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11094720" cy="20481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0" i="0" dirty="0">
                <a:solidFill>
                  <a:srgbClr val="403331"/>
                </a:solidFill>
                <a:latin typeface="Times New Roman"/>
              </a:rPr>
              <a:t>The project combines information retrieval, semantic matching and combinatorial </a:t>
            </a:r>
            <a:r>
              <a:rPr sz="1400" b="0" i="0" dirty="0" err="1">
                <a:solidFill>
                  <a:srgbClr val="403331"/>
                </a:solidFill>
                <a:latin typeface="Times New Roman"/>
              </a:rPr>
              <a:t>optimisation</a:t>
            </a:r>
            <a:r>
              <a:rPr sz="1400" b="0" i="0" dirty="0">
                <a:solidFill>
                  <a:srgbClr val="403331"/>
                </a:solidFill>
                <a:latin typeface="Times New Roman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0" i="0" dirty="0">
                <a:solidFill>
                  <a:srgbClr val="403331"/>
                </a:solidFill>
                <a:latin typeface="Times New Roman"/>
              </a:rPr>
              <a:t>Skill </a:t>
            </a:r>
            <a:r>
              <a:rPr sz="1400" b="0" i="0" dirty="0" err="1">
                <a:solidFill>
                  <a:srgbClr val="403331"/>
                </a:solidFill>
                <a:latin typeface="Times New Roman"/>
              </a:rPr>
              <a:t>normalisation</a:t>
            </a:r>
            <a:r>
              <a:rPr sz="1400" b="0" i="0" dirty="0">
                <a:solidFill>
                  <a:srgbClr val="403331"/>
                </a:solidFill>
                <a:latin typeface="Times New Roman"/>
              </a:rPr>
              <a:t> addresses differences in skill vocabulary.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0" i="0" dirty="0">
                <a:solidFill>
                  <a:srgbClr val="403331"/>
                </a:solidFill>
                <a:latin typeface="Times New Roman"/>
              </a:rPr>
              <a:t>Semantic similarity improves candidate-job matching beyond exact keywords.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0" i="0" dirty="0">
                <a:solidFill>
                  <a:srgbClr val="403331"/>
                </a:solidFill>
                <a:latin typeface="Times New Roman"/>
              </a:rPr>
              <a:t>The Hungarian Algorithm provides globally </a:t>
            </a:r>
            <a:r>
              <a:rPr sz="1400" b="0" i="0" dirty="0" err="1">
                <a:solidFill>
                  <a:srgbClr val="403331"/>
                </a:solidFill>
                <a:latin typeface="Times New Roman"/>
              </a:rPr>
              <a:t>optimised</a:t>
            </a:r>
            <a:r>
              <a:rPr sz="1400" b="0" i="0" dirty="0">
                <a:solidFill>
                  <a:srgbClr val="403331"/>
                </a:solidFill>
                <a:latin typeface="Times New Roman"/>
              </a:rPr>
              <a:t> candidate-to-role assignments.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0" i="0" dirty="0">
                <a:solidFill>
                  <a:srgbClr val="403331"/>
                </a:solidFill>
                <a:latin typeface="Times New Roman"/>
              </a:rPr>
              <a:t>Set Cover helps identify a small group of candidates capable of covering required team skills.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0" i="0" dirty="0">
                <a:solidFill>
                  <a:srgbClr val="403331"/>
                </a:solidFill>
                <a:latin typeface="Times New Roman"/>
              </a:rPr>
              <a:t>The integration of these techniques provides a complete framework for intelligent talent matching.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212080"/>
            <a:ext cx="11094720" cy="1005840"/>
          </a:xfrm>
          <a:prstGeom prst="roundRect">
            <a:avLst>
              <a:gd name="adj" fmla="val 10000"/>
            </a:avLst>
          </a:prstGeom>
          <a:solidFill>
            <a:srgbClr val="F4E1DF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5212080"/>
            <a:ext cx="1036320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 i="1">
                <a:solidFill>
                  <a:srgbClr val="C00000"/>
                </a:solidFill>
                <a:latin typeface="Times New Roman"/>
              </a:rPr>
              <a:t>“The proposed engine transforms traditional recruitment into an intelligent, optimisation-driven talent-matching process.”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736109" y="221673"/>
            <a:ext cx="4719782" cy="517236"/>
          </a:xfrm>
          <a:prstGeom prst="roundRect">
            <a:avLst>
              <a:gd name="adj" fmla="val 50000"/>
            </a:avLst>
          </a:prstGeom>
          <a:solidFill>
            <a:srgbClr val="C00000"/>
          </a:solidFill>
          <a:ln>
            <a:noFill/>
          </a:ln>
          <a:effectLst/>
        </p:spPr>
        <p:txBody>
          <a:bodyPr wrap="square"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Times New Roman"/>
              </a:rPr>
              <a:t>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600200"/>
            <a:ext cx="3108960" cy="1508760"/>
          </a:xfrm>
          <a:prstGeom prst="rect">
            <a:avLst/>
          </a:prstGeom>
          <a:solidFill>
            <a:srgbClr val="FD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48640" y="1828800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01368"/>
            <a:ext cx="4815840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03331"/>
                </a:solidFill>
                <a:latin typeface="Times New Roman"/>
              </a:rPr>
              <a:t>Expand the skill taxonomy to include more technologies and emerging job roles.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761488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734056"/>
            <a:ext cx="4815840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03331"/>
                </a:solidFill>
                <a:latin typeface="Times New Roman"/>
              </a:rPr>
              <a:t>Improve semantic matching using stronger embedding models.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94176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666744"/>
            <a:ext cx="4815840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03331"/>
                </a:solidFill>
                <a:latin typeface="Times New Roman"/>
              </a:rPr>
              <a:t>Support very large résumé and job-posting datasets using scalable vector search.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626864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4599432"/>
            <a:ext cx="4815840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03331"/>
                </a:solidFill>
                <a:latin typeface="Times New Roman"/>
              </a:rPr>
              <a:t>Include additional factors such as experience and role context in fit scoring.</a:t>
            </a:r>
          </a:p>
        </p:txBody>
      </p:sp>
      <p:sp>
        <p:nvSpPr>
          <p:cNvPr id="12" name="Oval 11"/>
          <p:cNvSpPr/>
          <p:nvPr/>
        </p:nvSpPr>
        <p:spPr>
          <a:xfrm>
            <a:off x="6324600" y="1828800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27520" y="1801368"/>
            <a:ext cx="4815840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03331"/>
                </a:solidFill>
                <a:latin typeface="Times New Roman"/>
              </a:rPr>
              <a:t>Integrate the engine with a real-world recruitment or talent-marketplace platform.</a:t>
            </a:r>
          </a:p>
        </p:txBody>
      </p:sp>
      <p:sp>
        <p:nvSpPr>
          <p:cNvPr id="14" name="Oval 13"/>
          <p:cNvSpPr/>
          <p:nvPr/>
        </p:nvSpPr>
        <p:spPr>
          <a:xfrm>
            <a:off x="6324600" y="2761488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27520" y="2734056"/>
            <a:ext cx="4815840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03331"/>
                </a:solidFill>
                <a:latin typeface="Times New Roman"/>
              </a:rPr>
              <a:t>Evaluate performance on larger real-world datasets.</a:t>
            </a:r>
          </a:p>
        </p:txBody>
      </p:sp>
      <p:sp>
        <p:nvSpPr>
          <p:cNvPr id="16" name="Oval 15"/>
          <p:cNvSpPr/>
          <p:nvPr/>
        </p:nvSpPr>
        <p:spPr>
          <a:xfrm>
            <a:off x="6324600" y="3694176"/>
            <a:ext cx="365760" cy="365760"/>
          </a:xfrm>
          <a:prstGeom prst="ellipse">
            <a:avLst/>
          </a:prstGeom>
          <a:solidFill>
            <a:srgbClr val="C00000"/>
          </a:solidFill>
          <a:ln>
            <a:noFill/>
          </a:ln>
          <a:effectLst/>
        </p:spPr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Times New Roman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27520" y="3666744"/>
            <a:ext cx="4815840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00" b="0" i="0">
                <a:solidFill>
                  <a:srgbClr val="403331"/>
                </a:solidFill>
                <a:latin typeface="Times New Roman"/>
              </a:rPr>
              <a:t>Compare multiple optimisation strategies for better recruitment outcomes.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942</Words>
  <Application>Microsoft Office PowerPoint</Application>
  <PresentationFormat>Widescreen</PresentationFormat>
  <Paragraphs>154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Times New Roman</vt:lpstr>
      <vt:lpstr>Office Theme</vt:lpstr>
      <vt:lpstr>       Data Structures and Algorithms -3 (25CS2103E)    Resume–Job Matching &amp; Talent Engine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mvijayalakshmi2007@outlook.com</cp:lastModifiedBy>
  <cp:revision>23</cp:revision>
  <dcterms:created xsi:type="dcterms:W3CDTF">2024-08-29T05:25:00Z</dcterms:created>
  <dcterms:modified xsi:type="dcterms:W3CDTF">2026-08-30T11:59:35Z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